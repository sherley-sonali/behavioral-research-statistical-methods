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aqpCEUa06gFacPJv7y/Ll2unW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B8FF41-B17A-410B-91AC-98F6907B4A9C}">
  <a:tblStyle styleId="{22B8FF41-B17A-410B-91AC-98F6907B4A9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943600" y="-731520"/>
            <a:ext cx="4754880" cy="4754880"/>
          </a:xfrm>
          <a:prstGeom prst="ellipse">
            <a:avLst/>
          </a:prstGeom>
          <a:solidFill>
            <a:srgbClr val="1B2A3B">
              <a:alpha val="80000"/>
            </a:srgbClr>
          </a:solidFill>
          <a:ln cap="flat" cmpd="sng" w="1905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583680" y="-182880"/>
            <a:ext cx="3200400" cy="3200400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365760" y="731520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Mnemonic Similarity Task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60" y="1508760"/>
            <a:ext cx="6400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&amp; Event Segmentation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65760" y="2286000"/>
            <a:ext cx="5029200" cy="36576"/>
          </a:xfrm>
          <a:prstGeom prst="rect">
            <a:avLst/>
          </a:prstGeom>
          <a:solidFill>
            <a:srgbClr val="546E7A"/>
          </a:solidFill>
          <a:ln cap="flat" cmpd="sng" w="12700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365760" y="24231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 = 160 participants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65760" y="27432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3 conditions: Item-Only · Task-Only · Both Item+Task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65760" y="3977640"/>
            <a:ext cx="1920240" cy="777240"/>
          </a:xfrm>
          <a:prstGeom prst="roundRect">
            <a:avLst>
              <a:gd fmla="val 9412" name="adj"/>
            </a:avLst>
          </a:prstGeom>
          <a:solidFill>
            <a:srgbClr val="162232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365760" y="400507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160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65760" y="4407408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Participants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514600" y="3977640"/>
            <a:ext cx="1920240" cy="777240"/>
          </a:xfrm>
          <a:prstGeom prst="roundRect">
            <a:avLst>
              <a:gd fmla="val 9412" name="adj"/>
            </a:avLst>
          </a:prstGeom>
          <a:solidFill>
            <a:srgbClr val="162232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2514600" y="400507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24,000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2514600" y="4407408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Test Trials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663440" y="3977640"/>
            <a:ext cx="1920240" cy="777240"/>
          </a:xfrm>
          <a:prstGeom prst="roundRect">
            <a:avLst>
              <a:gd fmla="val 9412" name="adj"/>
            </a:avLst>
          </a:prstGeom>
          <a:solidFill>
            <a:srgbClr val="162232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4663440" y="400507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663440" y="4407408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Lure Bins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812280" y="3977640"/>
            <a:ext cx="1920240" cy="777240"/>
          </a:xfrm>
          <a:prstGeom prst="roundRect">
            <a:avLst>
              <a:gd fmla="val 9412" name="adj"/>
            </a:avLst>
          </a:prstGeom>
          <a:solidFill>
            <a:srgbClr val="162232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6812280" y="4005072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812280" y="4407408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Event Positions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0" y="1920240"/>
            <a:ext cx="9144000" cy="128016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01  Introduction &amp; Background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0" y="32918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400"/>
              <a:buFont typeface="Calibri"/>
              <a:buNone/>
            </a:pPr>
            <a:r>
              <a:rPr b="0" lang="en-US" sz="14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The domain, the task, and why it matters</a:t>
            </a:r>
            <a:endParaRPr b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0" y="3749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Replication of Morse et al. (2023)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B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Hippocampus &amp; Pattern Separation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Why similar memories don't interfere with each other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74320" y="1005840"/>
            <a:ext cx="2743200" cy="3383280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274320" y="102412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Pattern Separation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274320" y="150876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11480" y="2103120"/>
            <a:ext cx="2468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Hippocampal process that orthogonalises similar inputs into non-overlapping neural representations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200400" y="1005840"/>
            <a:ext cx="2743200" cy="3383280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3200400" y="102412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Pattern Completion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200400" y="150876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337560" y="2103120"/>
            <a:ext cx="2468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Retrieving a full memory from a partial cue</a:t>
            </a:r>
            <a:r>
              <a:rPr lang="en-US" sz="12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the complementary process to pattern separation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126480" y="1005840"/>
            <a:ext cx="2743200" cy="3383280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126480" y="1005840"/>
            <a:ext cx="2743200" cy="41148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126480" y="102412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MST Paradigm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126480" y="150876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🔬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263640" y="2103120"/>
            <a:ext cx="2468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Behavioural proxy for hippocampal pattern separation using perceptually similar lure images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B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Mnemonic Similarity Task — Design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Replication of Morse et al. (2023) with event boundary manipulation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274320" y="978403"/>
            <a:ext cx="1554600" cy="3200400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274320" y="1005840"/>
            <a:ext cx="1554480" cy="36576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74320" y="1024128"/>
            <a:ext cx="155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Encoding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65760" y="1508760"/>
            <a:ext cx="1371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280 images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40 events × 7 items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"Fits in a shoebox?" (f/j)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2286000" y="19202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657600" y="1005840"/>
            <a:ext cx="1554480" cy="3200400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657600" y="1005840"/>
            <a:ext cx="1554480" cy="36576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3657600" y="102412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749040" y="1508760"/>
            <a:ext cx="1371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150 items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60 targets + 60 lures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+ 30 foils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669280" y="19202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040880" y="1005840"/>
            <a:ext cx="1554480" cy="3200400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7040880" y="1005840"/>
            <a:ext cx="1554480" cy="36576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040880" y="1024128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132320" y="1508760"/>
            <a:ext cx="1371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O = Old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 = Similar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 = New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274320" y="43434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Lure Similarity Bins: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377440" y="4315968"/>
            <a:ext cx="1234440" cy="457200"/>
          </a:xfrm>
          <a:prstGeom prst="roundRect">
            <a:avLst>
              <a:gd fmla="val 12000" name="adj"/>
            </a:avLst>
          </a:prstGeom>
          <a:solidFill>
            <a:srgbClr val="FF4444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2377440" y="4343400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 — Most Similar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3703320" y="4315968"/>
            <a:ext cx="1234440" cy="457200"/>
          </a:xfrm>
          <a:prstGeom prst="roundRect">
            <a:avLst>
              <a:gd fmla="val 12000" name="adj"/>
            </a:avLst>
          </a:prstGeom>
          <a:solidFill>
            <a:srgbClr val="FF8C00"/>
          </a:solidFill>
          <a:ln cap="flat" cmpd="sng" w="12700">
            <a:solidFill>
              <a:srgbClr val="FF8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3703320" y="4343400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029200" y="4315968"/>
            <a:ext cx="1234440" cy="457200"/>
          </a:xfrm>
          <a:prstGeom prst="roundRect">
            <a:avLst>
              <a:gd fmla="val 12000" name="adj"/>
            </a:avLst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5029200" y="4343400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355080" y="4315968"/>
            <a:ext cx="1234440" cy="457200"/>
          </a:xfrm>
          <a:prstGeom prst="roundRect">
            <a:avLst>
              <a:gd fmla="val 12000" name="adj"/>
            </a:avLst>
          </a:prstGeom>
          <a:solidFill>
            <a:srgbClr val="86CC5A"/>
          </a:solidFill>
          <a:ln cap="flat" cmpd="sng" w="12700">
            <a:solidFill>
              <a:srgbClr val="86CC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6355080" y="4343400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7680960" y="4315968"/>
            <a:ext cx="1234440" cy="457200"/>
          </a:xfrm>
          <a:prstGeom prst="roundRect">
            <a:avLst>
              <a:gd fmla="val 12000" name="adj"/>
            </a:avLst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7680960" y="4343400"/>
            <a:ext cx="1234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 — Least Similar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B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Event Segmentation Theory (EST)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Zacks et al., 2007 · Morse et al., 2023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162232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411480" y="10058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Core Idea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11480" y="1417320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◆  </a:t>
            </a: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Experience is continuously parsed into discrete events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11480" y="2011680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◆  </a:t>
            </a: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Event boundaries occur when predictions fail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11480" y="2606040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◆  </a:t>
            </a: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Boundaries trigger a cognitive reset → reallocation of processing resources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11480" y="3200400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◆  </a:t>
            </a: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Post-boundary items may benefit from enhanced encoding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11480" y="3794760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◆  </a:t>
            </a: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Response times should increase at boundaries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663440" y="914400"/>
            <a:ext cx="4206240" cy="3840480"/>
          </a:xfrm>
          <a:prstGeom prst="rect">
            <a:avLst/>
          </a:prstGeom>
          <a:solidFill>
            <a:srgbClr val="162232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800600" y="10058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Position × Memory Prediction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800600" y="1481328"/>
            <a:ext cx="1371600" cy="32004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4800600" y="148132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Pre-boundary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263640" y="1499616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Standard encoding; pre-boundary context active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800600" y="2532888"/>
            <a:ext cx="1371600" cy="32004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4800600" y="253288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Mid-event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263640" y="2551176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Deep within event; stable event model; best context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800600" y="3584448"/>
            <a:ext cx="1371600" cy="32004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4800600" y="358444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Post-boundary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263640" y="3602736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After boundary; fresh encoding start; episodic reset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0" y="1920240"/>
            <a:ext cx="9144000" cy="128016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02  Hypotheses &amp; Methods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0" y="32918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400"/>
              <a:buFont typeface="Calibri"/>
              <a:buNone/>
            </a:pPr>
            <a:r>
              <a:rPr b="0" lang="en-US" sz="14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Research questions, planned analyses, and statistical approach</a:t>
            </a:r>
            <a:endParaRPr b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B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Research Hypotheses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Confirmatory (H1–H4) and Exploratory (H5–H7)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274320" y="960120"/>
            <a:ext cx="4251960" cy="804672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274320" y="960120"/>
            <a:ext cx="475488" cy="804672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274320" y="960120"/>
            <a:ext cx="47548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822960" y="1033272"/>
            <a:ext cx="3611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Memory above chance: REC and LDI &gt; 0 for all groups (verified)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206240" y="118872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274320" y="1920240"/>
            <a:ext cx="4251960" cy="804672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274320" y="1920240"/>
            <a:ext cx="475488" cy="804672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274320" y="1920240"/>
            <a:ext cx="47548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822960" y="1993392"/>
            <a:ext cx="3611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Boundary benefit: Post-boundary items show higher REC/LDI than mid-event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274320" y="2880360"/>
            <a:ext cx="4251960" cy="804672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274320" y="2880360"/>
            <a:ext cx="475488" cy="804672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274320" y="2880360"/>
            <a:ext cx="47548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822960" y="2953512"/>
            <a:ext cx="3611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Lure gradient: LDI lower for Bin 1 (most similar) vs Bin 5 (verified)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206240" y="3108960"/>
            <a:ext cx="320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274320" y="3840480"/>
            <a:ext cx="4251960" cy="804672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274320" y="3840480"/>
            <a:ext cx="475488" cy="804672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274320" y="3840480"/>
            <a:ext cx="47548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822960" y="3913632"/>
            <a:ext cx="3611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Group differences: Both/Task-Only differ from Item-Only in memory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754880" y="960120"/>
            <a:ext cx="4251960" cy="804672"/>
          </a:xfrm>
          <a:prstGeom prst="rect">
            <a:avLst/>
          </a:prstGeom>
          <a:solidFill>
            <a:srgbClr val="162232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754880" y="960120"/>
            <a:ext cx="475488" cy="804672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4754880" y="960120"/>
            <a:ext cx="47548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303520" y="1033272"/>
            <a:ext cx="3611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Exploratory: Longer RT at test for post-boundary/mid-event items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754880" y="1920240"/>
            <a:ext cx="4251960" cy="804672"/>
          </a:xfrm>
          <a:prstGeom prst="rect">
            <a:avLst/>
          </a:prstGeom>
          <a:solidFill>
            <a:srgbClr val="162232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4754880" y="1920240"/>
            <a:ext cx="475488" cy="804672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4754880" y="1920240"/>
            <a:ext cx="47548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5303520" y="1993392"/>
            <a:ext cx="3611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Exploratory: Positive correlation between REC and LDI within-subjects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754880" y="2880360"/>
            <a:ext cx="4251960" cy="804672"/>
          </a:xfrm>
          <a:prstGeom prst="rect">
            <a:avLst/>
          </a:prstGeom>
          <a:solidFill>
            <a:srgbClr val="162232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754880" y="2880360"/>
            <a:ext cx="475488" cy="804672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4754880" y="2880360"/>
            <a:ext cx="47548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303520" y="2953512"/>
            <a:ext cx="3611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Exploratory: Position × lure bin interaction on LDI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B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Methods: Data Processing Pipeline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320 CSV files → per-participant REC and LDI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274320" y="960120"/>
            <a:ext cx="1572768" cy="3520440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832104" y="1051560"/>
            <a:ext cx="457200" cy="457200"/>
          </a:xfrm>
          <a:prstGeom prst="ellipse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832104" y="1069848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274320" y="160020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 CSVs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365760" y="2148840"/>
            <a:ext cx="14173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320 files across 3 groups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Participant ID = first 5 digits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581912" y="21488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1993392" y="960120"/>
            <a:ext cx="1572768" cy="3520440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2551176" y="1051560"/>
            <a:ext cx="457200" cy="457200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2551176" y="1069848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1993392" y="160020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2084832" y="2148840"/>
            <a:ext cx="14173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a.jpg = Target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b.jpg = Lure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Foils/ = Foil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300984" y="21488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3712464" y="960120"/>
            <a:ext cx="1572768" cy="3520440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4270248" y="1051560"/>
            <a:ext cx="457200" cy="457200"/>
          </a:xfrm>
          <a:prstGeom prst="ellipse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4270248" y="1069848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712464" y="160020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Assign Bins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3803904" y="2148840"/>
            <a:ext cx="14173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Merge Set6/SetScC bins.txt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Bin 1–5 per lure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020056" y="21488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431536" y="960120"/>
            <a:ext cx="1572768" cy="3520440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5989320" y="1051560"/>
            <a:ext cx="457200" cy="457200"/>
          </a:xfrm>
          <a:prstGeom prst="ellipse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5989320" y="1069848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5431536" y="160020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 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522976" y="2148840"/>
            <a:ext cx="14173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key_resp_9.rt 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3 + key_resp_8.rt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739128" y="21488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7150608" y="960120"/>
            <a:ext cx="1572768" cy="3520440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7708392" y="1051560"/>
            <a:ext cx="457200" cy="457200"/>
          </a:xfrm>
          <a:prstGeom prst="ellipse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7708392" y="1069848"/>
            <a:ext cx="457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7150608" y="1600200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 Indices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7242048" y="2148840"/>
            <a:ext cx="14173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REC = P(old|Target) − P(old|Foil)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LDI = P(sim|Lure) − P(sim|Foil)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B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Statistical Analysis &amp; Multiple Comparison Control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Confirmatory + Exploratory framework with correction hierarchy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274320" y="914400"/>
            <a:ext cx="4114800" cy="3886200"/>
          </a:xfrm>
          <a:prstGeom prst="rect">
            <a:avLst/>
          </a:prstGeom>
          <a:solidFill>
            <a:srgbClr val="162232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411480" y="9875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Tests Conducted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11480" y="141732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One-sample t-test vs 0: </a:t>
            </a: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REC &amp; LDI above chance per group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11480" y="196596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Independent t-tests: </a:t>
            </a: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Between-group comparisons (3 pairs)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11480" y="251460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One-way ANOVA: </a:t>
            </a: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Position effect (pre/mid/post) within groups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11480" y="306324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Paired t-tests: </a:t>
            </a: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Pre vs post position per participant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411480" y="361188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Pearson r: </a:t>
            </a: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REC–LDI correlation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11480" y="416052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 regression: </a:t>
            </a: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LDI ~ lure bin (continuous)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4663440" y="914400"/>
            <a:ext cx="4206240" cy="3886200"/>
          </a:xfrm>
          <a:prstGeom prst="rect">
            <a:avLst/>
          </a:prstGeom>
          <a:solidFill>
            <a:srgbClr val="162232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4800600" y="98755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Multiple Comparison Strategy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4800600" y="1463040"/>
            <a:ext cx="1188720" cy="32004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4800600" y="146304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Bonferroni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080760" y="1463040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α = 0.0125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846320" y="182880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Confirmatory H1–H4 (÷ 4 hypotheses)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4800600" y="2267712"/>
            <a:ext cx="1188720" cy="32004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4800600" y="2267712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Holm-Bonferroni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6080760" y="2267712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stepwise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846320" y="263347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Post-hoc pairwise between groups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4800600" y="3072384"/>
            <a:ext cx="1188720" cy="32004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4800600" y="3072384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BH–FDR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6080760" y="3072384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q = 0.05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846320" y="3438144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Lure bin family (5 tests)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800600" y="3877056"/>
            <a:ext cx="1188720" cy="320040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4800600" y="3877056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Uncorrected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6080760" y="3877056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α = 0.05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846320" y="4242816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Exploratory H5–H7 (labelled)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0" y="1920240"/>
            <a:ext cx="9144000" cy="128016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03  Descriptive Statistics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0" y="32918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400"/>
              <a:buFont typeface="Calibri"/>
              <a:buNone/>
            </a:pPr>
            <a:r>
              <a:rPr b="0" lang="en-US" sz="14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Sample overview, response distributions, and preliminary findings</a:t>
            </a:r>
            <a:endParaRPr b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B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 Overview &amp; Dataset Structure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274320" y="914400"/>
            <a:ext cx="1828800" cy="1188720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274320" y="987552"/>
            <a:ext cx="1828800" cy="6537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160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274320" y="1603858"/>
            <a:ext cx="1828800" cy="451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Total Participants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2286000" y="914400"/>
            <a:ext cx="1828800" cy="1188720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2286000" y="987552"/>
            <a:ext cx="1828800" cy="6537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2800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4,000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2286000" y="1603858"/>
            <a:ext cx="1828800" cy="451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Test Trials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297680" y="914400"/>
            <a:ext cx="1828800" cy="1188720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4297680" y="987552"/>
            <a:ext cx="1828800" cy="6537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9,600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4297680" y="1603858"/>
            <a:ext cx="1828800" cy="451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Lure Trials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6309360" y="914400"/>
            <a:ext cx="1828800" cy="1188720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6309360" y="987552"/>
            <a:ext cx="1828800" cy="6537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9,600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6309360" y="1603858"/>
            <a:ext cx="1828800" cy="451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Target Trials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4" name="Google Shape;274;p11"/>
          <p:cNvGraphicFramePr/>
          <p:nvPr/>
        </p:nvGraphicFramePr>
        <p:xfrm>
          <a:off x="274320" y="2331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{22B8FF41-B17A-410B-91AC-98F6907B4A9C}</a:tableStyleId>
              </a:tblPr>
              <a:tblGrid>
                <a:gridCol w="2011675"/>
                <a:gridCol w="1280150"/>
                <a:gridCol w="1554475"/>
                <a:gridCol w="1554475"/>
                <a:gridCol w="2194550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C9A7"/>
                          </a:solidFill>
                        </a:rPr>
                        <a:t>Group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N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Targets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Lures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Enc. Acc.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C9A7"/>
                          </a:solidFill>
                        </a:rPr>
                        <a:t>Item-Only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B0BEC5"/>
                          </a:solidFill>
                        </a:rPr>
                        <a:t>56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B0BEC5"/>
                          </a:solidFill>
                        </a:rPr>
                        <a:t>3,360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B0BEC5"/>
                          </a:solidFill>
                        </a:rPr>
                        <a:t>3</a:t>
                      </a:r>
                      <a:r>
                        <a:rPr lang="en-US" sz="1200">
                          <a:solidFill>
                            <a:srgbClr val="B0BEC5"/>
                          </a:solidFill>
                        </a:rPr>
                        <a:t>,36</a:t>
                      </a:r>
                      <a:r>
                        <a:rPr lang="en-US" sz="1200" u="none" cap="none" strike="noStrike">
                          <a:solidFill>
                            <a:srgbClr val="B0BEC5"/>
                          </a:solidFill>
                        </a:rPr>
                        <a:t>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>
                          <a:solidFill>
                            <a:srgbClr val="FFD166"/>
                          </a:solidFill>
                        </a:rPr>
                        <a:t>62.7%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6B6B"/>
                          </a:solidFill>
                        </a:rPr>
                        <a:t>Task-Only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B0BEC5"/>
                          </a:solidFill>
                        </a:rPr>
                        <a:t>53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B0BEC5"/>
                          </a:solidFill>
                        </a:rPr>
                        <a:t>3,180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B0BEC5"/>
                          </a:solidFill>
                        </a:rPr>
                        <a:t>3</a:t>
                      </a:r>
                      <a:r>
                        <a:rPr lang="en-US" sz="1200" u="none" cap="none" strike="noStrike">
                          <a:solidFill>
                            <a:srgbClr val="B0BEC5"/>
                          </a:solidFill>
                        </a:rPr>
                        <a:t>,</a:t>
                      </a:r>
                      <a:r>
                        <a:rPr lang="en-US" sz="1200">
                          <a:solidFill>
                            <a:srgbClr val="B0BEC5"/>
                          </a:solidFill>
                        </a:rPr>
                        <a:t>18</a:t>
                      </a:r>
                      <a:r>
                        <a:rPr lang="en-US" sz="1200" u="none" cap="none" strike="noStrike">
                          <a:solidFill>
                            <a:srgbClr val="B0BEC5"/>
                          </a:solidFill>
                        </a:rPr>
                        <a:t>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6E7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>
                          <a:solidFill>
                            <a:srgbClr val="FFD166"/>
                          </a:solidFill>
                        </a:rPr>
                        <a:t>62.4%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C3F7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4FC3F7"/>
                          </a:solidFill>
                        </a:rPr>
                        <a:t>Both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B0BEC5"/>
                          </a:solidFill>
                        </a:rPr>
                        <a:t>51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B0BEC5"/>
                          </a:solidFill>
                        </a:rPr>
                        <a:t>3,06</a:t>
                      </a:r>
                      <a:r>
                        <a:rPr lang="en-US" sz="1200">
                          <a:solidFill>
                            <a:srgbClr val="B0BEC5"/>
                          </a:solidFill>
                        </a:rPr>
                        <a:t>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>
                          <a:solidFill>
                            <a:srgbClr val="B0BEC5"/>
                          </a:solidFill>
                        </a:rPr>
                        <a:t>3</a:t>
                      </a:r>
                      <a:r>
                        <a:rPr lang="en-US" sz="1200" u="none" cap="none" strike="noStrike">
                          <a:solidFill>
                            <a:srgbClr val="B0BEC5"/>
                          </a:solidFill>
                        </a:rPr>
                        <a:t>,</a:t>
                      </a:r>
                      <a:r>
                        <a:rPr lang="en-US" sz="1200">
                          <a:solidFill>
                            <a:srgbClr val="B0BEC5"/>
                          </a:solidFill>
                        </a:rPr>
                        <a:t>060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>
                          <a:solidFill>
                            <a:srgbClr val="FFD166"/>
                          </a:solidFill>
                        </a:rPr>
                        <a:t>61.0%</a:t>
                      </a:r>
                      <a:endParaRPr sz="1200">
                        <a:solidFill>
                          <a:srgbClr val="546E7A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</a:tr>
            </a:tbl>
          </a:graphicData>
        </a:graphic>
      </p:graphicFrame>
      <p:sp>
        <p:nvSpPr>
          <p:cNvPr id="275" name="Google Shape;275;p11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1" lang="en-US" sz="11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Response breakdown: old 37.9% · similar 34.5% · new 27.8%</a:t>
            </a:r>
            <a:endParaRPr b="1" sz="11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B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Overall REC and LDI — Descriptive Statistics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All groups show robust memory well above chance</a:t>
            </a:r>
            <a:endParaRPr b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4" name="Google Shape;284;p12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{22B8FF41-B17A-410B-91AC-98F6907B4A9C}</a:tableStyleId>
              </a:tblPr>
              <a:tblGrid>
                <a:gridCol w="1188725"/>
                <a:gridCol w="777250"/>
                <a:gridCol w="777250"/>
                <a:gridCol w="777250"/>
                <a:gridCol w="77725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C9A7"/>
                          </a:solidFill>
                        </a:rPr>
                        <a:t>Group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REC M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REC SD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LDI M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LDI SD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C9A7"/>
                          </a:solidFill>
                        </a:rPr>
                        <a:t>Item-Only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2"/>
                          </a:solidFill>
                        </a:rPr>
                        <a:t>0.634</a:t>
                      </a:r>
                      <a:endParaRPr sz="11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2"/>
                          </a:solidFill>
                        </a:rPr>
                        <a:t>0.153</a:t>
                      </a:r>
                      <a:endParaRPr sz="11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2"/>
                          </a:solidFill>
                        </a:rPr>
                        <a:t>0.319</a:t>
                      </a:r>
                      <a:endParaRPr sz="11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2"/>
                          </a:solidFill>
                        </a:rPr>
                        <a:t>0.169</a:t>
                      </a:r>
                      <a:endParaRPr sz="11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6B6B"/>
                          </a:solidFill>
                        </a:rPr>
                        <a:t>Task-Only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2"/>
                          </a:solidFill>
                        </a:rPr>
                        <a:t>0.596</a:t>
                      </a:r>
                      <a:endParaRPr sz="11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2"/>
                          </a:solidFill>
                        </a:rPr>
                        <a:t>0.174</a:t>
                      </a:r>
                      <a:endParaRPr sz="11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2"/>
                          </a:solidFill>
                        </a:rPr>
                        <a:t>0.381</a:t>
                      </a:r>
                      <a:endParaRPr b="1" sz="11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2"/>
                          </a:solidFill>
                        </a:rPr>
                        <a:t>0.188</a:t>
                      </a:r>
                      <a:endParaRPr sz="11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C3F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FC3F7"/>
                          </a:solidFill>
                        </a:rPr>
                        <a:t>Both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2"/>
                          </a:solidFill>
                        </a:rPr>
                        <a:t>0.596</a:t>
                      </a:r>
                      <a:endParaRPr sz="11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2"/>
                          </a:solidFill>
                        </a:rPr>
                        <a:t>0.144</a:t>
                      </a:r>
                      <a:endParaRPr sz="11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2"/>
                          </a:solidFill>
                        </a:rPr>
                        <a:t>0.2</a:t>
                      </a:r>
                      <a:r>
                        <a:rPr lang="en-US" sz="1100">
                          <a:solidFill>
                            <a:schemeClr val="lt2"/>
                          </a:solidFill>
                        </a:rPr>
                        <a:t>70</a:t>
                      </a:r>
                      <a:endParaRPr sz="11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2"/>
                          </a:solidFill>
                        </a:rPr>
                        <a:t>0.179</a:t>
                      </a:r>
                      <a:endParaRPr sz="1100" u="none" cap="none" strike="noStrike">
                        <a:solidFill>
                          <a:schemeClr val="lt2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</a:tr>
            </a:tbl>
          </a:graphicData>
        </a:graphic>
      </p:graphicFrame>
      <p:sp>
        <p:nvSpPr>
          <p:cNvPr id="285" name="Google Shape;285;p12"/>
          <p:cNvSpPr/>
          <p:nvPr/>
        </p:nvSpPr>
        <p:spPr>
          <a:xfrm>
            <a:off x="274320" y="283464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00"/>
              <a:buFont typeface="Calibri"/>
              <a:buNone/>
            </a:pPr>
            <a:r>
              <a:rPr b="0" lang="en-US" sz="12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Task-Only shows significantly higher LDI than Both (t=−3.08, p=.003)</a:t>
            </a:r>
            <a:endParaRPr b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274320" y="33375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0" lang="en-US" sz="1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All groups: REC &amp; LDI &gt;&gt; 0 (all p &lt; .001, d &gt; 1.3)</a:t>
            </a:r>
            <a:endParaRPr b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_violin.png" id="287" name="Google Shape;28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0" y="822960"/>
            <a:ext cx="411480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2"/>
          <p:cNvSpPr/>
          <p:nvPr/>
        </p:nvSpPr>
        <p:spPr>
          <a:xfrm>
            <a:off x="4754880" y="35204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Fig. Distribution of REC and LDI by group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0" y="1920240"/>
            <a:ext cx="9144000" cy="128016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04  Results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0" y="32918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400"/>
              <a:buFont typeface="Calibri"/>
              <a:buNone/>
            </a:pPr>
            <a:r>
              <a:rPr b="0" lang="en-US" sz="14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Recognition memory · Lure discrimination · Position effects · Lure bins · RT</a:t>
            </a:r>
            <a:endParaRPr b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B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4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Figure 1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Target Recognition (REC) by Event Position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All positions show strong recognition; post-boundary shows numerical decrease in Task-Only &amp; Both</a:t>
            </a:r>
            <a:endParaRPr b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1.png" id="306" name="Google Shape;3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868680"/>
            <a:ext cx="685800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4"/>
          <p:cNvSpPr/>
          <p:nvPr/>
        </p:nvSpPr>
        <p:spPr>
          <a:xfrm>
            <a:off x="7223760" y="777240"/>
            <a:ext cx="1691640" cy="4023360"/>
          </a:xfrm>
          <a:prstGeom prst="rect">
            <a:avLst/>
          </a:prstGeom>
          <a:solidFill>
            <a:srgbClr val="162232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7269480" y="8686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Key Stats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7269480" y="1188720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Item-Only: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7269480" y="1417320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No position effect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7269480" y="1645920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 &lt; 0.1, p = .93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7269480" y="1874520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7269480" y="2103120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Task-Only: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7269480" y="2331720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Pre &gt; Post trend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7269480" y="2560320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 = 2.69, p = .010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7269480" y="2788920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7269480" y="3017520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Both: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7269480" y="3246120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Mid &gt; Post (sig)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7269480" y="3474720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 = 3.48, p = .001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B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Figure 2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Lure Discrimination (LDI) by Event Position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Task-Only: balanced across positions; Both: slight post-boundary drop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2.png" id="328" name="Google Shape;3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868680"/>
            <a:ext cx="685800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5"/>
          <p:cNvSpPr/>
          <p:nvPr/>
        </p:nvSpPr>
        <p:spPr>
          <a:xfrm>
            <a:off x="7223760" y="777240"/>
            <a:ext cx="1691640" cy="4023360"/>
          </a:xfrm>
          <a:prstGeom prst="rect">
            <a:avLst/>
          </a:prstGeom>
          <a:solidFill>
            <a:srgbClr val="162232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7269480" y="8686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Key Stats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7269480" y="1170432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LDI Pre</a:t>
            </a: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7269480" y="1389888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ANOVA across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7269480" y="1609344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groups: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7269480" y="1828800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F(2,157)=0.087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7269480" y="2048256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 = .917 (ns)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7269480" y="2267712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7269480" y="2487168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positions: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7269480" y="2706624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LDI &gt;&gt; 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7269480" y="2926080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(d &gt; 1.3)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7269480" y="3145536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7269480" y="3364992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Task-Only LDI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7269480" y="3584448"/>
            <a:ext cx="15544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highest overall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B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Post Boundary Effect: REC and LDI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Directional boundary effect on REC in Task-Only and Both; no effect on LDI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5.png" id="351" name="Google Shape;35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868680"/>
            <a:ext cx="5943600" cy="39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6"/>
          <p:cNvSpPr/>
          <p:nvPr/>
        </p:nvSpPr>
        <p:spPr>
          <a:xfrm>
            <a:off x="6309360" y="777240"/>
            <a:ext cx="2606040" cy="4069080"/>
          </a:xfrm>
          <a:prstGeom prst="rect">
            <a:avLst/>
          </a:prstGeom>
          <a:solidFill>
            <a:srgbClr val="162232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6400800" y="86868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6400800" y="1234440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REC: Pre &gt; Post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6400800" y="149047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Task-Only: Δ = +0.061, t(52)=2.69, p=.010, d=0.37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6400800" y="1746504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Both: Δ = +0.056, t(50)=2.80, p=.007, d=0.39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6400800" y="2002536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Item-Only: Δ = −0.007 (ns)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6400800" y="2258568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6400800" y="2514600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ANOVA across groups: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6400800" y="277063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F(2,157) = 3.52, p = .032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6400800" y="3026664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6400800" y="3282696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LDI: No position effect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6400800" y="3538728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F(2,157) = 0.087, p = .917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6400800" y="3794760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6400800" y="405079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Boundary impairs rather than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enhances recognition when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encoding task is present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B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7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Figure 3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LDI by Lure Similarity Bin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Monotonic increase confirms graded hippocampal pattern separation — H3</a:t>
            </a:r>
            <a:endParaRPr b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3.png" id="374" name="Google Shape;3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868680"/>
            <a:ext cx="640080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7"/>
          <p:cNvSpPr/>
          <p:nvPr/>
        </p:nvSpPr>
        <p:spPr>
          <a:xfrm>
            <a:off x="6766560" y="777240"/>
            <a:ext cx="2148840" cy="4069080"/>
          </a:xfrm>
          <a:prstGeom prst="rect">
            <a:avLst/>
          </a:prstGeom>
          <a:solidFill>
            <a:srgbClr val="162232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7"/>
          <p:cNvSpPr/>
          <p:nvPr/>
        </p:nvSpPr>
        <p:spPr>
          <a:xfrm>
            <a:off x="6858000" y="868680"/>
            <a:ext cx="1965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All bins sig. &gt;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(BH-FDR corrected)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6858000" y="150876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LDI Bin 1 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Bin 5: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6858000" y="187452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Item-Only: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7863840" y="1874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0.19 </a:t>
            </a:r>
            <a:r>
              <a:rPr lang="en-US" sz="10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-&gt; </a:t>
            </a: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0.38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7"/>
          <p:cNvSpPr/>
          <p:nvPr/>
        </p:nvSpPr>
        <p:spPr>
          <a:xfrm>
            <a:off x="6858000" y="23774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Task-Only: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7"/>
          <p:cNvSpPr/>
          <p:nvPr/>
        </p:nvSpPr>
        <p:spPr>
          <a:xfrm>
            <a:off x="7863840" y="23774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0.25 </a:t>
            </a:r>
            <a:r>
              <a:rPr lang="en-US" sz="10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0.47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6858000" y="288036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Both: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7863840" y="28803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0.17 </a:t>
            </a:r>
            <a:r>
              <a:rPr lang="en-US" sz="10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0.32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6858000" y="3429000"/>
            <a:ext cx="1965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00"/>
              <a:buFont typeface="Calibri"/>
              <a:buNone/>
            </a:pPr>
            <a:r>
              <a:rPr b="0" lang="en-US" sz="10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Task-Only shows</a:t>
            </a:r>
            <a:endParaRPr b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00"/>
              <a:buFont typeface="Calibri"/>
              <a:buNone/>
            </a:pPr>
            <a:r>
              <a:rPr b="0" lang="en-US" sz="10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steepest gradient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00"/>
              <a:buFont typeface="Calibri"/>
              <a:buNone/>
            </a:pPr>
            <a:r>
              <a:rPr b="0" lang="en-US" sz="10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best discrimination</a:t>
            </a:r>
            <a:endParaRPr b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B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8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Figure 4 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Response Time by Event Position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Mid-event items elicit longest RTs — consistent with Event Segmentation Theory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4.png" id="393" name="Google Shape;3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68680"/>
            <a:ext cx="548640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8"/>
          <p:cNvSpPr/>
          <p:nvPr/>
        </p:nvSpPr>
        <p:spPr>
          <a:xfrm>
            <a:off x="5943600" y="777240"/>
            <a:ext cx="2971800" cy="4069080"/>
          </a:xfrm>
          <a:prstGeom prst="rect">
            <a:avLst/>
          </a:prstGeom>
          <a:solidFill>
            <a:srgbClr val="162232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8"/>
          <p:cNvSpPr/>
          <p:nvPr/>
        </p:nvSpPr>
        <p:spPr>
          <a:xfrm>
            <a:off x="6035040" y="8686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RT (median, seconds)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6" name="Google Shape;396;p18"/>
          <p:cNvGraphicFramePr/>
          <p:nvPr/>
        </p:nvGraphicFramePr>
        <p:xfrm>
          <a:off x="603504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{22B8FF41-B17A-410B-91AC-98F6907B4A9C}</a:tableStyleId>
              </a:tblPr>
              <a:tblGrid>
                <a:gridCol w="914400"/>
                <a:gridCol w="621800"/>
                <a:gridCol w="621800"/>
                <a:gridCol w="6218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C9A7"/>
                          </a:solidFill>
                        </a:rPr>
                        <a:t>Group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Pre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D166"/>
                          </a:solidFill>
                        </a:rPr>
                        <a:t>Mid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Post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C9A7"/>
                          </a:solidFill>
                        </a:rPr>
                        <a:t>Item-Only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2.00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D166"/>
                          </a:solidFill>
                        </a:rPr>
                        <a:t>2.13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2.05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6B6B"/>
                          </a:solidFill>
                        </a:rPr>
                        <a:t>Task-Only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1.67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D166"/>
                          </a:solidFill>
                        </a:rPr>
                        <a:t>1.74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1.68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FC3F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4FC3F7"/>
                          </a:solidFill>
                        </a:rPr>
                        <a:t>Both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1.81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D166"/>
                          </a:solidFill>
                        </a:rPr>
                        <a:t>1.81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1.84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</a:tr>
            </a:tbl>
          </a:graphicData>
        </a:graphic>
      </p:graphicFrame>
      <p:sp>
        <p:nvSpPr>
          <p:cNvPr id="397" name="Google Shape;397;p18"/>
          <p:cNvSpPr/>
          <p:nvPr/>
        </p:nvSpPr>
        <p:spPr>
          <a:xfrm>
            <a:off x="6035040" y="2697480"/>
            <a:ext cx="2788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 prediction confirmed: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Mid-event &gt; Pre consistently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across all groups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6035040" y="3703320"/>
            <a:ext cx="2788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Longer mid-event RT suggests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greater cognitive engagement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during stable event models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B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9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LDI: Position × Lure Bin Interaction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9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Post-boundary + low similarity = highest discrimination; exploratory finding (H7)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fig_heatmap.png" id="407" name="Google Shape;40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777240"/>
            <a:ext cx="594360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9"/>
          <p:cNvSpPr/>
          <p:nvPr/>
        </p:nvSpPr>
        <p:spPr>
          <a:xfrm>
            <a:off x="6400800" y="777240"/>
            <a:ext cx="2514600" cy="4023360"/>
          </a:xfrm>
          <a:prstGeom prst="rect">
            <a:avLst/>
          </a:prstGeom>
          <a:solidFill>
            <a:srgbClr val="162232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9"/>
          <p:cNvSpPr/>
          <p:nvPr/>
        </p:nvSpPr>
        <p:spPr>
          <a:xfrm>
            <a:off x="6492240" y="86868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Reading the Heatmap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6492240" y="128016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Green = high LDI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0AD47"/>
                </a:solidFill>
                <a:latin typeface="Calibri"/>
                <a:ea typeface="Calibri"/>
                <a:cs typeface="Calibri"/>
                <a:sym typeface="Calibri"/>
              </a:rPr>
              <a:t>(better pattern separation)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9"/>
          <p:cNvSpPr/>
          <p:nvPr/>
        </p:nvSpPr>
        <p:spPr>
          <a:xfrm>
            <a:off x="6492240" y="1938528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Red = low LDI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(poor discrimination)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9"/>
          <p:cNvSpPr/>
          <p:nvPr/>
        </p:nvSpPr>
        <p:spPr>
          <a:xfrm>
            <a:off x="6492240" y="2596896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Rows = pre/mid/post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Cols = bins 1→5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9"/>
          <p:cNvSpPr/>
          <p:nvPr/>
        </p:nvSpPr>
        <p:spPr>
          <a:xfrm>
            <a:off x="6492240" y="3255264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Pattern: Bin 5 + post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consistently highest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9"/>
          <p:cNvSpPr/>
          <p:nvPr/>
        </p:nvSpPr>
        <p:spPr>
          <a:xfrm>
            <a:off x="6492240" y="3913632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Bin 1 (most similar)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challenges all positions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B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0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Between-Group Comparisons — All Statistical Tests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0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Key finding: Task-Only &gt; Both for LDI (p = .003); no REC differences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3" name="Google Shape;423;p20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{22B8FF41-B17A-410B-91AC-98F6907B4A9C}</a:tableStyleId>
              </a:tblPr>
              <a:tblGrid>
                <a:gridCol w="2377450"/>
                <a:gridCol w="822950"/>
                <a:gridCol w="914400"/>
                <a:gridCol w="914400"/>
                <a:gridCol w="1005850"/>
                <a:gridCol w="2560325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C9A7"/>
                          </a:solidFill>
                        </a:rPr>
                        <a:t>Comparison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t-stat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p-value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Cohen's d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Result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Item-Only vs Both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C9A7"/>
                          </a:solidFill>
                        </a:rPr>
                        <a:t>REC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1.</a:t>
                      </a:r>
                      <a:r>
                        <a:rPr lang="en-US" sz="1000">
                          <a:solidFill>
                            <a:srgbClr val="B0BEC5"/>
                          </a:solidFill>
                        </a:rPr>
                        <a:t>30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.195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0.2</a:t>
                      </a:r>
                      <a:r>
                        <a:rPr lang="en-US" sz="1000">
                          <a:solidFill>
                            <a:srgbClr val="B0BEC5"/>
                          </a:solidFill>
                        </a:rPr>
                        <a:t>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6E7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46E7A"/>
                          </a:solidFill>
                        </a:rPr>
                        <a:t>ns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Item-Only vs Both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D166"/>
                          </a:solidFill>
                        </a:rPr>
                        <a:t>LDI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1.4</a:t>
                      </a:r>
                      <a:r>
                        <a:rPr lang="en-US" sz="1000">
                          <a:solidFill>
                            <a:srgbClr val="B0BEC5"/>
                          </a:solidFill>
                        </a:rPr>
                        <a:t>7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.1</a:t>
                      </a:r>
                      <a:r>
                        <a:rPr lang="en-US" sz="1000">
                          <a:solidFill>
                            <a:srgbClr val="B0BEC5"/>
                          </a:solidFill>
                        </a:rPr>
                        <a:t>46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0.</a:t>
                      </a:r>
                      <a:r>
                        <a:rPr lang="en-US" sz="1000">
                          <a:solidFill>
                            <a:srgbClr val="B0BEC5"/>
                          </a:solidFill>
                        </a:rPr>
                        <a:t>28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6E7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46E7A"/>
                          </a:solidFill>
                        </a:rPr>
                        <a:t>ns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Item-Only vs Task-Only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C9A7"/>
                          </a:solidFill>
                        </a:rPr>
                        <a:t>REC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1.21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.229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0.2</a:t>
                      </a:r>
                      <a:r>
                        <a:rPr lang="en-US" sz="1000">
                          <a:solidFill>
                            <a:srgbClr val="B0BEC5"/>
                          </a:solidFill>
                        </a:rPr>
                        <a:t>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6E7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46E7A"/>
                          </a:solidFill>
                        </a:rPr>
                        <a:t>ns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Item-Only vs Task-Only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D166"/>
                          </a:solidFill>
                        </a:rPr>
                        <a:t>LDI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-1.</a:t>
                      </a:r>
                      <a:r>
                        <a:rPr lang="en-US" sz="1000">
                          <a:solidFill>
                            <a:srgbClr val="B0BEC5"/>
                          </a:solidFill>
                        </a:rPr>
                        <a:t>79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.076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0.3</a:t>
                      </a:r>
                      <a:r>
                        <a:rPr lang="en-US" sz="1000">
                          <a:solidFill>
                            <a:srgbClr val="B0BEC5"/>
                          </a:solidFill>
                        </a:rPr>
                        <a:t>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6E7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46E7A"/>
                          </a:solidFill>
                        </a:rPr>
                        <a:t>ns (trend)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Both vs Task-Only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C9A7"/>
                          </a:solidFill>
                        </a:rPr>
                        <a:t>REC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0.0</a:t>
                      </a:r>
                      <a:r>
                        <a:rPr lang="en-US" sz="1000">
                          <a:solidFill>
                            <a:srgbClr val="B0BEC5"/>
                          </a:solidFill>
                        </a:rPr>
                        <a:t>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.9</a:t>
                      </a:r>
                      <a:r>
                        <a:rPr lang="en-US" sz="1000">
                          <a:solidFill>
                            <a:srgbClr val="B0BEC5"/>
                          </a:solidFill>
                        </a:rPr>
                        <a:t>70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0.0</a:t>
                      </a:r>
                      <a:r>
                        <a:rPr lang="en-US" sz="1000">
                          <a:solidFill>
                            <a:srgbClr val="B0BEC5"/>
                          </a:solidFill>
                        </a:rPr>
                        <a:t>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6E7A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546E7A"/>
                          </a:solidFill>
                        </a:rPr>
                        <a:t>ns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232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Both vs Task-Only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D166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D166"/>
                          </a:solidFill>
                        </a:rPr>
                        <a:t>LDI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-3.0</a:t>
                      </a:r>
                      <a:r>
                        <a:rPr lang="en-US" sz="1000">
                          <a:solidFill>
                            <a:srgbClr val="B0BEC5"/>
                          </a:solidFill>
                        </a:rPr>
                        <a:t>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6B6B"/>
                          </a:solidFill>
                        </a:rPr>
                        <a:t>.003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0BEC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B0BEC5"/>
                          </a:solidFill>
                        </a:rPr>
                        <a:t>0.61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6B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6B6B"/>
                          </a:solidFill>
                        </a:rPr>
                        <a:t>** SIGNIFICANT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46E7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424" name="Google Shape;424;p20"/>
          <p:cNvSpPr/>
          <p:nvPr/>
        </p:nvSpPr>
        <p:spPr>
          <a:xfrm>
            <a:off x="274320" y="4343400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Bonferroni-corrected α = 0.0125 for confirmatory tests | LDI: Both vs Task-Only significant even after correction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1"/>
          <p:cNvSpPr/>
          <p:nvPr/>
        </p:nvSpPr>
        <p:spPr>
          <a:xfrm>
            <a:off x="0" y="1920240"/>
            <a:ext cx="9144000" cy="128016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1"/>
          <p:cNvSpPr/>
          <p:nvPr/>
        </p:nvSpPr>
        <p:spPr>
          <a:xfrm>
            <a:off x="0" y="2011680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05  Conclusions &amp; Future Directions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1"/>
          <p:cNvSpPr/>
          <p:nvPr/>
        </p:nvSpPr>
        <p:spPr>
          <a:xfrm>
            <a:off x="0" y="32918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400"/>
              <a:buFont typeface="Calibri"/>
              <a:buNone/>
            </a:pPr>
            <a:r>
              <a:rPr b="0" lang="en-US" sz="14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Summary of findings and next steps</a:t>
            </a:r>
            <a:endParaRPr b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B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2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What we found and what it means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274320" y="914400"/>
            <a:ext cx="4251960" cy="1828800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384048" y="1005840"/>
            <a:ext cx="411480" cy="411480"/>
          </a:xfrm>
          <a:prstGeom prst="ellipse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384048" y="10058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2"/>
          <p:cNvSpPr/>
          <p:nvPr/>
        </p:nvSpPr>
        <p:spPr>
          <a:xfrm>
            <a:off x="868680" y="102412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Memory above chance (H1)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/>
          <p:nvPr/>
        </p:nvSpPr>
        <p:spPr>
          <a:xfrm>
            <a:off x="411480" y="1463040"/>
            <a:ext cx="3977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REC (M≈0.61) and LDI (M≈0.32) significantly &gt; 0 in all groups (all p &lt; .001, d &gt; 1.3). Shoebox encoding question produces robust recognition memory.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2"/>
          <p:cNvSpPr/>
          <p:nvPr/>
        </p:nvSpPr>
        <p:spPr>
          <a:xfrm>
            <a:off x="274320" y="2926080"/>
            <a:ext cx="4251960" cy="1828800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2"/>
          <p:cNvSpPr/>
          <p:nvPr/>
        </p:nvSpPr>
        <p:spPr>
          <a:xfrm>
            <a:off x="384048" y="3017520"/>
            <a:ext cx="411480" cy="411480"/>
          </a:xfrm>
          <a:prstGeom prst="ellipse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2"/>
          <p:cNvSpPr/>
          <p:nvPr/>
        </p:nvSpPr>
        <p:spPr>
          <a:xfrm>
            <a:off x="384048" y="3017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2"/>
          <p:cNvSpPr/>
          <p:nvPr/>
        </p:nvSpPr>
        <p:spPr>
          <a:xfrm>
            <a:off x="868680" y="303580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Boundary impairs REC in dual-task groups (H2 partially)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2"/>
          <p:cNvSpPr/>
          <p:nvPr/>
        </p:nvSpPr>
        <p:spPr>
          <a:xfrm>
            <a:off x="411480" y="3474720"/>
            <a:ext cx="3977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Pre &gt; Post REC in Task-Only (p=.010) and Both (p=.007). Item-Only showed no boundary effect. Cognitive reset at boundaries may compete with encoding.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4754880" y="914400"/>
            <a:ext cx="4251960" cy="1828800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2"/>
          <p:cNvSpPr/>
          <p:nvPr/>
        </p:nvSpPr>
        <p:spPr>
          <a:xfrm>
            <a:off x="4864608" y="1005840"/>
            <a:ext cx="411480" cy="411480"/>
          </a:xfrm>
          <a:prstGeom prst="ellipse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2"/>
          <p:cNvSpPr/>
          <p:nvPr/>
        </p:nvSpPr>
        <p:spPr>
          <a:xfrm>
            <a:off x="4864608" y="10058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2"/>
          <p:cNvSpPr/>
          <p:nvPr/>
        </p:nvSpPr>
        <p:spPr>
          <a:xfrm>
            <a:off x="5349240" y="102412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Lure similarity gradient confirmed (H3)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2"/>
          <p:cNvSpPr/>
          <p:nvPr/>
        </p:nvSpPr>
        <p:spPr>
          <a:xfrm>
            <a:off x="4892040" y="1463040"/>
            <a:ext cx="3977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LDI monotonically increased from Bin 1 → Bin 5 in all groups (all BH-FDR corrected p &lt; .001). Task-Only shows steepest gradient — best fine-grained discrimination.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4754880" y="2926080"/>
            <a:ext cx="4251960" cy="1828800"/>
          </a:xfrm>
          <a:prstGeom prst="rect">
            <a:avLst/>
          </a:prstGeom>
          <a:solidFill>
            <a:srgbClr val="162232"/>
          </a:solidFill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2"/>
          <p:cNvSpPr/>
          <p:nvPr/>
        </p:nvSpPr>
        <p:spPr>
          <a:xfrm>
            <a:off x="4864608" y="3017520"/>
            <a:ext cx="411480" cy="411480"/>
          </a:xfrm>
          <a:prstGeom prst="ellipse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2"/>
          <p:cNvSpPr/>
          <p:nvPr/>
        </p:nvSpPr>
        <p:spPr>
          <a:xfrm>
            <a:off x="4864608" y="30175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2"/>
          <p:cNvSpPr/>
          <p:nvPr/>
        </p:nvSpPr>
        <p:spPr>
          <a:xfrm>
            <a:off x="5349240" y="303580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Task-Only &gt; Both for LDI (H4 partial)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2"/>
          <p:cNvSpPr/>
          <p:nvPr/>
        </p:nvSpPr>
        <p:spPr>
          <a:xfrm>
            <a:off x="4892040" y="3474720"/>
            <a:ext cx="3977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Concurrent image viewing during encoding may interfere with item-specific encoding. Task-only semantic processing enhanced pattern separation.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B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3"/>
          <p:cNvSpPr/>
          <p:nvPr/>
        </p:nvSpPr>
        <p:spPr>
          <a:xfrm>
            <a:off x="457200" y="9144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Directions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3"/>
          <p:cNvSpPr/>
          <p:nvPr/>
        </p:nvSpPr>
        <p:spPr>
          <a:xfrm>
            <a:off x="457200" y="576072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Next steps to deepen understanding of boundary–memory interactions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3"/>
          <p:cNvSpPr/>
          <p:nvPr/>
        </p:nvSpPr>
        <p:spPr>
          <a:xfrm>
            <a:off x="274320" y="822960"/>
            <a:ext cx="2743200" cy="1965960"/>
          </a:xfrm>
          <a:prstGeom prst="rect">
            <a:avLst/>
          </a:prstGeom>
          <a:solidFill>
            <a:srgbClr val="162232"/>
          </a:solidFill>
          <a:ln cap="flat" cmpd="sng" w="1905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3"/>
          <p:cNvSpPr/>
          <p:nvPr/>
        </p:nvSpPr>
        <p:spPr>
          <a:xfrm>
            <a:off x="274320" y="9144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🔬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3"/>
          <p:cNvSpPr/>
          <p:nvPr/>
        </p:nvSpPr>
        <p:spPr>
          <a:xfrm>
            <a:off x="365760" y="1417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Increase Statistical Power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3"/>
          <p:cNvSpPr/>
          <p:nvPr/>
        </p:nvSpPr>
        <p:spPr>
          <a:xfrm>
            <a:off x="365760" y="182880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Collect &gt;20 trials per position/bin cell to detect small effects; use mixed-effects logistic regression treating items as random effects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3"/>
          <p:cNvSpPr/>
          <p:nvPr/>
        </p:nvSpPr>
        <p:spPr>
          <a:xfrm>
            <a:off x="3200400" y="822960"/>
            <a:ext cx="2743200" cy="1965960"/>
          </a:xfrm>
          <a:prstGeom prst="rect">
            <a:avLst/>
          </a:prstGeom>
          <a:solidFill>
            <a:srgbClr val="162232"/>
          </a:solidFill>
          <a:ln cap="flat" cmpd="sng" w="1905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3"/>
          <p:cNvSpPr/>
          <p:nvPr/>
        </p:nvSpPr>
        <p:spPr>
          <a:xfrm>
            <a:off x="3200400" y="9144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🧲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3"/>
          <p:cNvSpPr/>
          <p:nvPr/>
        </p:nvSpPr>
        <p:spPr>
          <a:xfrm>
            <a:off x="3291840" y="1417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Neuroimaging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3"/>
          <p:cNvSpPr/>
          <p:nvPr/>
        </p:nvSpPr>
        <p:spPr>
          <a:xfrm>
            <a:off x="3291840" y="182880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fMRI to measure hippocampal pattern separation signals at event boundaries; EEG for temporal dynamics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6126480" y="822960"/>
            <a:ext cx="2743200" cy="1965960"/>
          </a:xfrm>
          <a:prstGeom prst="rect">
            <a:avLst/>
          </a:prstGeom>
          <a:solidFill>
            <a:srgbClr val="162232"/>
          </a:solidFill>
          <a:ln cap="flat" cmpd="sng" w="1905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3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3"/>
          <p:cNvSpPr/>
          <p:nvPr/>
        </p:nvSpPr>
        <p:spPr>
          <a:xfrm>
            <a:off x="6217920" y="1417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Delayed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3"/>
          <p:cNvSpPr/>
          <p:nvPr/>
        </p:nvSpPr>
        <p:spPr>
          <a:xfrm>
            <a:off x="6217920" y="182880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24-hour delay test to reveal whether boundaries differentially protect memories during overnight consolidation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3"/>
          <p:cNvSpPr/>
          <p:nvPr/>
        </p:nvSpPr>
        <p:spPr>
          <a:xfrm>
            <a:off x="274320" y="3017520"/>
            <a:ext cx="2743200" cy="1965960"/>
          </a:xfrm>
          <a:prstGeom prst="rect">
            <a:avLst/>
          </a:prstGeom>
          <a:solidFill>
            <a:srgbClr val="162232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3"/>
          <p:cNvSpPr/>
          <p:nvPr/>
        </p:nvSpPr>
        <p:spPr>
          <a:xfrm>
            <a:off x="274320" y="31089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3"/>
          <p:cNvSpPr/>
          <p:nvPr/>
        </p:nvSpPr>
        <p:spPr>
          <a:xfrm>
            <a:off x="365760" y="36118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Individual Differences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3"/>
          <p:cNvSpPr/>
          <p:nvPr/>
        </p:nvSpPr>
        <p:spPr>
          <a:xfrm>
            <a:off x="365760" y="402336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Trait anxiety, working memory capacity, and event segmentation ability as moderators of the boundary effect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3"/>
          <p:cNvSpPr/>
          <p:nvPr/>
        </p:nvSpPr>
        <p:spPr>
          <a:xfrm>
            <a:off x="3200400" y="3017520"/>
            <a:ext cx="2743200" cy="1965960"/>
          </a:xfrm>
          <a:prstGeom prst="rect">
            <a:avLst/>
          </a:prstGeom>
          <a:solidFill>
            <a:srgbClr val="162232"/>
          </a:solidFill>
          <a:ln cap="flat" cmpd="sng" w="19050">
            <a:solidFill>
              <a:srgbClr val="A29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3"/>
          <p:cNvSpPr/>
          <p:nvPr/>
        </p:nvSpPr>
        <p:spPr>
          <a:xfrm>
            <a:off x="3200400" y="31089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💊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3"/>
          <p:cNvSpPr/>
          <p:nvPr/>
        </p:nvSpPr>
        <p:spPr>
          <a:xfrm>
            <a:off x="3291840" y="36118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29BF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29BFE"/>
                </a:solidFill>
                <a:latin typeface="Calibri"/>
                <a:ea typeface="Calibri"/>
                <a:cs typeface="Calibri"/>
                <a:sym typeface="Calibri"/>
              </a:rPr>
              <a:t>Clinical Applications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3"/>
          <p:cNvSpPr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Test MST boundary manipulation in MCI, depression, and stress cohorts as a sensitive hippocampal biomarker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3"/>
          <p:cNvSpPr/>
          <p:nvPr/>
        </p:nvSpPr>
        <p:spPr>
          <a:xfrm>
            <a:off x="6126480" y="3017520"/>
            <a:ext cx="2743200" cy="1965960"/>
          </a:xfrm>
          <a:prstGeom prst="rect">
            <a:avLst/>
          </a:prstGeom>
          <a:solidFill>
            <a:srgbClr val="162232"/>
          </a:solidFill>
          <a:ln cap="flat" cmpd="sng" w="19050">
            <a:solidFill>
              <a:srgbClr val="FD7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3"/>
          <p:cNvSpPr/>
          <p:nvPr/>
        </p:nvSpPr>
        <p:spPr>
          <a:xfrm>
            <a:off x="6126480" y="31089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3"/>
          <p:cNvSpPr/>
          <p:nvPr/>
        </p:nvSpPr>
        <p:spPr>
          <a:xfrm>
            <a:off x="6217920" y="36118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79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D79A8"/>
                </a:solidFill>
                <a:latin typeface="Calibri"/>
                <a:ea typeface="Calibri"/>
                <a:cs typeface="Calibri"/>
                <a:sym typeface="Calibri"/>
              </a:rPr>
              <a:t>Computational Modeling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3"/>
          <p:cNvSpPr/>
          <p:nvPr/>
        </p:nvSpPr>
        <p:spPr>
          <a:xfrm>
            <a:off x="6217920" y="402336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Bayesian hierarchical models; signal detection theory; computational model of event-driven encoding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3B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4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4"/>
          <p:cNvSpPr/>
          <p:nvPr/>
        </p:nvSpPr>
        <p:spPr>
          <a:xfrm>
            <a:off x="457200" y="777240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Kirwan, C. B., &amp; Stark, C. E. L. (2007). Overcoming interference: An fMRI investigation of pattern separation in the medial temporal lobe. Learning &amp; Memory, 14(9), 625–633.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4"/>
          <p:cNvSpPr/>
          <p:nvPr/>
        </p:nvSpPr>
        <p:spPr>
          <a:xfrm>
            <a:off x="457200" y="1307592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Morse, S. J., et al. (2023). Event boundaries directionally influence item-level recognition memory. Cognition, 234, 105358.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4"/>
          <p:cNvSpPr/>
          <p:nvPr/>
        </p:nvSpPr>
        <p:spPr>
          <a:xfrm>
            <a:off x="457200" y="1837944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Stark, S. M., &amp; Stark, C. E. L. (2017). Age-related deficits in the mnemonic similarity task for objects and scenes. Behavioural Brain Research, 322, 76–84.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4"/>
          <p:cNvSpPr/>
          <p:nvPr/>
        </p:nvSpPr>
        <p:spPr>
          <a:xfrm>
            <a:off x="457200" y="2368296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Zacks, J. M., Speer, N. K., Swallow, K. M., Braver, T. S., &amp; Reynolds, J. R. (2007). Event perception: A mind-brain perspective. Psychological Bulletin, 133(2), 273–293.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4"/>
          <p:cNvSpPr/>
          <p:nvPr/>
        </p:nvSpPr>
        <p:spPr>
          <a:xfrm>
            <a:off x="457200" y="2898648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DuBrow, S., &amp; Davachi, L. (2013). The influence of context boundaries on memory for the sequential order of events. Journal of Experimental Psychology: General, 142(4), 1277–1286.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4"/>
          <p:cNvSpPr/>
          <p:nvPr/>
        </p:nvSpPr>
        <p:spPr>
          <a:xfrm>
            <a:off x="457200" y="3429000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Baldassano, C., et al. (2017). Discovering event structure in continuous narrative perception and memory. Neuron, 95(3), 709–721.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4"/>
          <p:cNvSpPr/>
          <p:nvPr/>
        </p:nvSpPr>
        <p:spPr>
          <a:xfrm>
            <a:off x="457200" y="3959352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Benjamini, Y., &amp; Hochberg, Y. (1995). Controlling the false discovery rate: A practical and powerful approach to multiple testing. JRSS-B, 57(1), 289–300.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4"/>
          <p:cNvSpPr/>
          <p:nvPr/>
        </p:nvSpPr>
        <p:spPr>
          <a:xfrm>
            <a:off x="457200" y="4489704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Cohen, J. (1988). Statistical power analysis for the behavioral sciences (2nd ed.). Lawrence Erlbaum Associates.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5"/>
          <p:cNvSpPr/>
          <p:nvPr/>
        </p:nvSpPr>
        <p:spPr>
          <a:xfrm>
            <a:off x="5669280" y="-914400"/>
            <a:ext cx="5303520" cy="5303520"/>
          </a:xfrm>
          <a:prstGeom prst="ellipse">
            <a:avLst/>
          </a:prstGeom>
          <a:solidFill>
            <a:srgbClr val="1B2A3B">
              <a:alpha val="70196"/>
            </a:srgbClr>
          </a:solidFill>
          <a:ln cap="flat" cmpd="sng" w="1905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5"/>
          <p:cNvSpPr/>
          <p:nvPr/>
        </p:nvSpPr>
        <p:spPr>
          <a:xfrm>
            <a:off x="365760" y="1097280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5"/>
          <p:cNvSpPr/>
          <p:nvPr/>
        </p:nvSpPr>
        <p:spPr>
          <a:xfrm>
            <a:off x="365760" y="2148840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BRSM 2026 · MST &amp; Event Segmentation Analysis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5"/>
          <p:cNvSpPr/>
          <p:nvPr/>
        </p:nvSpPr>
        <p:spPr>
          <a:xfrm>
            <a:off x="365760" y="3931920"/>
            <a:ext cx="1965960" cy="841248"/>
          </a:xfrm>
          <a:prstGeom prst="roundRect">
            <a:avLst>
              <a:gd fmla="val 8696" name="adj"/>
            </a:avLst>
          </a:prstGeom>
          <a:solidFill>
            <a:srgbClr val="162232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5"/>
          <p:cNvSpPr/>
          <p:nvPr/>
        </p:nvSpPr>
        <p:spPr>
          <a:xfrm>
            <a:off x="365760" y="395020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160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/>
          <p:nvPr/>
        </p:nvSpPr>
        <p:spPr>
          <a:xfrm>
            <a:off x="365760" y="440740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Participants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5"/>
          <p:cNvSpPr/>
          <p:nvPr/>
        </p:nvSpPr>
        <p:spPr>
          <a:xfrm>
            <a:off x="2514600" y="3931920"/>
            <a:ext cx="1965960" cy="841248"/>
          </a:xfrm>
          <a:prstGeom prst="roundRect">
            <a:avLst>
              <a:gd fmla="val 8696" name="adj"/>
            </a:avLst>
          </a:prstGeom>
          <a:solidFill>
            <a:srgbClr val="162232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5"/>
          <p:cNvSpPr/>
          <p:nvPr/>
        </p:nvSpPr>
        <p:spPr>
          <a:xfrm>
            <a:off x="2514600" y="395020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 H1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5"/>
          <p:cNvSpPr/>
          <p:nvPr/>
        </p:nvSpPr>
        <p:spPr>
          <a:xfrm>
            <a:off x="2514600" y="440740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Memory confirmed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5"/>
          <p:cNvSpPr/>
          <p:nvPr/>
        </p:nvSpPr>
        <p:spPr>
          <a:xfrm>
            <a:off x="4663440" y="3931920"/>
            <a:ext cx="1965960" cy="841248"/>
          </a:xfrm>
          <a:prstGeom prst="roundRect">
            <a:avLst>
              <a:gd fmla="val 8696" name="adj"/>
            </a:avLst>
          </a:prstGeom>
          <a:solidFill>
            <a:srgbClr val="162232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5"/>
          <p:cNvSpPr/>
          <p:nvPr/>
        </p:nvSpPr>
        <p:spPr>
          <a:xfrm>
            <a:off x="4663440" y="395020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 H3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5"/>
          <p:cNvSpPr/>
          <p:nvPr/>
        </p:nvSpPr>
        <p:spPr>
          <a:xfrm>
            <a:off x="4663440" y="440740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Lure gradient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5"/>
          <p:cNvSpPr/>
          <p:nvPr/>
        </p:nvSpPr>
        <p:spPr>
          <a:xfrm>
            <a:off x="6812280" y="3931920"/>
            <a:ext cx="1965960" cy="841248"/>
          </a:xfrm>
          <a:prstGeom prst="roundRect">
            <a:avLst>
              <a:gd fmla="val 8696" name="adj"/>
            </a:avLst>
          </a:prstGeom>
          <a:solidFill>
            <a:srgbClr val="162232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5"/>
          <p:cNvSpPr/>
          <p:nvPr/>
        </p:nvSpPr>
        <p:spPr>
          <a:xfrm>
            <a:off x="6812280" y="395020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 RT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5"/>
          <p:cNvSpPr/>
          <p:nvPr/>
        </p:nvSpPr>
        <p:spPr>
          <a:xfrm>
            <a:off x="6812280" y="4407408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EST prediction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2026-03-04T18:38:46Z</dcterms:created>
  <dc:creator>PptxGenJS</dc:creator>
</cp:coreProperties>
</file>